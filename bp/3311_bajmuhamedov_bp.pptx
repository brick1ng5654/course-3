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14630400" cy="8229600"/>
  <p:notesSz cx="8229600" cy="14630400"/>
  <p:embeddedFontLst>
    <p:embeddedFont>
      <p:font typeface="Bahnschrift Light" panose="020B0502040204020203" pitchFamily="34" charset="0"/>
      <p:regular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04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2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2.png"/><Relationship Id="rId4" Type="http://schemas.openxmlformats.org/officeDocument/2006/relationships/image" Target="../media/image27.svg"/><Relationship Id="rId9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5442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Detect: Система видеоаналитики на базе нейросетей</a:t>
            </a:r>
            <a:endParaRPr lang="en-US" sz="4450" dirty="0">
              <a:latin typeface="Bahnschrift Ligh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8121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Выполнил студент группы 3311 Баймухамедов Рафаэль Русланович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A1CB6F-BC82-F149-723B-619EB1D07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422" y="7559167"/>
            <a:ext cx="1797978" cy="670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62658"/>
            <a:ext cx="72080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Ценностное предложение</a:t>
            </a:r>
            <a:endParaRPr lang="en-US" sz="4450" dirty="0">
              <a:latin typeface="Bahnschrift Light" panose="020B0502040204020203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2311598"/>
            <a:ext cx="3664744" cy="2758559"/>
          </a:xfrm>
          <a:prstGeom prst="roundRect">
            <a:avLst>
              <a:gd name="adj" fmla="val 1233"/>
            </a:avLst>
          </a:prstGeom>
          <a:solidFill>
            <a:srgbClr val="E0E0EC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5384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Снижение затрат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07004" y="3028831"/>
            <a:ext cx="3211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Автоматизация мониторинга сокращает расходы на операторов и повышает эффективность службы безопасности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171748" y="2311598"/>
            <a:ext cx="3664863" cy="2758559"/>
          </a:xfrm>
          <a:prstGeom prst="roundRect">
            <a:avLst>
              <a:gd name="adj" fmla="val 1233"/>
            </a:avLst>
          </a:prstGeom>
          <a:solidFill>
            <a:srgbClr val="E0E0EC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2538413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Измеримые результаты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98562" y="3383161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Конкретные метрики по зонам, событиям и сценариям в реальном времени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80190" y="5296972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5237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Гибкая интеграция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07004" y="6014204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Работа с существующими камерами, простое подключение к IT-инфраструктуре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075B395-E05B-F74B-3F64-5E8DF5A9C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2422" y="7559167"/>
            <a:ext cx="1797978" cy="670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620316"/>
            <a:ext cx="7790378" cy="599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Модульная архитектура системы</a:t>
            </a:r>
            <a:endParaRPr lang="en-US" sz="3750" dirty="0">
              <a:latin typeface="Bahnschrift Light" panose="020B0502040204020203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503" y="1602819"/>
            <a:ext cx="479346" cy="479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9503" y="2321838"/>
            <a:ext cx="2396728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Детекция и трекинг</a:t>
            </a:r>
            <a:endParaRPr lang="en-US" sz="1850" dirty="0">
              <a:latin typeface="Bahnschrift Ligh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9503" y="2736413"/>
            <a:ext cx="6405801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YOLOv8 и ByteTrack обеспечивают точное обнаружение людей и транспорта с устойчивым отслеживанием</a:t>
            </a:r>
            <a:endParaRPr lang="en-US" sz="1500" dirty="0">
              <a:latin typeface="Bahnschrift Light" panose="020B0502040204020203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4977" y="1602819"/>
            <a:ext cx="479346" cy="4793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4977" y="2321838"/>
            <a:ext cx="2963108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Очереди и посещаемость</a:t>
            </a:r>
            <a:endParaRPr lang="en-US" sz="1850" dirty="0">
              <a:latin typeface="Bahnschrift Light" panose="020B05020402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434977" y="2736413"/>
            <a:ext cx="6405920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Измерение времени ожидания, длины очередей и загрузки зон для оптимизации процессов</a:t>
            </a:r>
            <a:endParaRPr lang="en-US" sz="1500" dirty="0">
              <a:latin typeface="Bahnschrift Light" panose="020B0502040204020203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9503" y="3733205"/>
            <a:ext cx="479346" cy="4793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89503" y="4452223"/>
            <a:ext cx="2815471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Контроль безопасности</a:t>
            </a:r>
            <a:endParaRPr lang="en-US" sz="1850" dirty="0">
              <a:latin typeface="Bahnschrift Light" panose="020B0502040204020203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89503" y="4866799"/>
            <a:ext cx="640580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Проверка наличия касок, жилетов и формы в опасных зонах</a:t>
            </a:r>
            <a:endParaRPr lang="en-US" sz="1500" dirty="0">
              <a:latin typeface="Bahnschrift Light" panose="020B0502040204020203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4977" y="3733205"/>
            <a:ext cx="479346" cy="4793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4977" y="4452223"/>
            <a:ext cx="2822258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Периметр и инциденты</a:t>
            </a:r>
            <a:endParaRPr lang="en-US" sz="1850" dirty="0">
              <a:latin typeface="Bahnschrift Light" panose="020B0502040204020203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434977" y="4866799"/>
            <a:ext cx="6405920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Обнаружение проникновений в запретные зоны и анализ подозрительного поведения</a:t>
            </a:r>
            <a:endParaRPr lang="en-US" sz="1500" dirty="0">
              <a:latin typeface="Bahnschrift Light" panose="020B0502040204020203" pitchFamily="34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9503" y="5863590"/>
            <a:ext cx="479346" cy="47934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89503" y="6582608"/>
            <a:ext cx="2396728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Распознавание лиц</a:t>
            </a:r>
            <a:endParaRPr lang="en-US" sz="1850" dirty="0">
              <a:latin typeface="Bahnschrift Light" panose="020B0502040204020203" pitchFamily="34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789503" y="6997184"/>
            <a:ext cx="6405801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Идентификация "свой/чужой", оценка возраста, пола и эмоций с защитой приватности</a:t>
            </a:r>
            <a:endParaRPr lang="en-US" sz="1500" dirty="0">
              <a:latin typeface="Bahnschrift Light" panose="020B0502040204020203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34977" y="5863590"/>
            <a:ext cx="479346" cy="47934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34977" y="6582608"/>
            <a:ext cx="3054548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Обнаружение возгораний</a:t>
            </a:r>
            <a:endParaRPr lang="en-US" sz="1850" dirty="0">
              <a:latin typeface="Bahnschrift Light" panose="020B0502040204020203" pitchFamily="34" charset="0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7434977" y="6997184"/>
            <a:ext cx="6405920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Раннее выявление очагов огня без дополнительных датчиков</a:t>
            </a:r>
            <a:endParaRPr lang="en-US" sz="1500" dirty="0">
              <a:latin typeface="Bahnschrift Light" panose="020B0502040204020203" pitchFamily="34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A202F58-B30D-BBF5-43C9-6261895BAE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832422" y="7559167"/>
            <a:ext cx="1797978" cy="670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52155"/>
            <a:ext cx="577465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Целевые сегменты рынка</a:t>
            </a:r>
            <a:endParaRPr lang="en-US" sz="3550" dirty="0">
              <a:latin typeface="Bahnschrift Light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207275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ТРЦ и розница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80190" y="2537698"/>
            <a:ext cx="3556873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Управление очередями и потоками посетителей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0190" y="3181707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Контроль зон разгрузки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80190" y="3535442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Повышение KPI персонала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80190" y="4007168"/>
            <a:ext cx="229064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Склады и логистика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80190" y="4472107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Контроль периметра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280190" y="4825841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Проверка средств защиты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80190" y="5179576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Идентификация персонала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80190" y="565130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Промышленность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280190" y="6116241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Соблюдение техники безопасности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80190" y="6469975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Контроль опасных зон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280190" y="6823710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Снижение штрафов и инцидентов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287357" y="2072759"/>
            <a:ext cx="280273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Офисы и бизнес-центры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0287357" y="2537698"/>
            <a:ext cx="3556873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Оптимизация использования площадей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0287357" y="3181707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Мониторинг переговорных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287357" y="3535442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Сокращение очередей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287357" y="400716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Умный дом и ЖК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0287357" y="4472107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Контроль входных групп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287357" y="4825841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Автоматизация сценариев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0287357" y="5179576"/>
            <a:ext cx="355687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Интеграция с Home Assistant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85AF0CA-29A8-18EF-D178-019D9F34C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2422" y="7559167"/>
            <a:ext cx="1797978" cy="670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8065B29F-A11E-67A2-E062-8EADDE6F0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1" y="0"/>
            <a:ext cx="5486400" cy="8229601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39284"/>
            <a:ext cx="4084439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Технологический стек</a:t>
            </a:r>
            <a:endParaRPr lang="en-US" sz="2900" dirty="0">
              <a:latin typeface="Bahnschrift Light" panose="020B0502040204020203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1842254"/>
            <a:ext cx="7556421" cy="1085612"/>
          </a:xfrm>
          <a:prstGeom prst="roundRect">
            <a:avLst>
              <a:gd name="adj" fmla="val 6738"/>
            </a:avLst>
          </a:prstGeom>
          <a:solidFill>
            <a:srgbClr val="F3F3F7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1827014"/>
            <a:ext cx="7556421" cy="60960"/>
          </a:xfrm>
          <a:prstGeom prst="roundRect">
            <a:avLst>
              <a:gd name="adj" fmla="val 36279"/>
            </a:avLst>
          </a:prstGeom>
          <a:solidFill>
            <a:srgbClr val="101014"/>
          </a:solidFill>
          <a:ln/>
        </p:spPr>
      </p:sp>
      <p:sp>
        <p:nvSpPr>
          <p:cNvPr id="6" name="Shape 3"/>
          <p:cNvSpPr/>
          <p:nvPr/>
        </p:nvSpPr>
        <p:spPr>
          <a:xfrm>
            <a:off x="4350901" y="1621155"/>
            <a:ext cx="442198" cy="442198"/>
          </a:xfrm>
          <a:prstGeom prst="roundRect">
            <a:avLst>
              <a:gd name="adj" fmla="val 206785"/>
            </a:avLst>
          </a:prstGeom>
          <a:solidFill>
            <a:srgbClr val="10101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3537" y="1753791"/>
            <a:ext cx="176808" cy="1768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429" y="221075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Нейросети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56429" y="2529483"/>
            <a:ext cx="72311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YOLOv8 для детекции, ByteTrack для трекинга, DeepFace и InsightFace для распознавания лиц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793790" y="3296364"/>
            <a:ext cx="7556421" cy="1085612"/>
          </a:xfrm>
          <a:prstGeom prst="roundRect">
            <a:avLst>
              <a:gd name="adj" fmla="val 6738"/>
            </a:avLst>
          </a:prstGeom>
          <a:solidFill>
            <a:srgbClr val="F3F3F7"/>
          </a:solidFill>
          <a:ln/>
        </p:spPr>
      </p:sp>
      <p:sp>
        <p:nvSpPr>
          <p:cNvPr id="11" name="Shape 7"/>
          <p:cNvSpPr/>
          <p:nvPr/>
        </p:nvSpPr>
        <p:spPr>
          <a:xfrm>
            <a:off x="793790" y="3281124"/>
            <a:ext cx="7556421" cy="60960"/>
          </a:xfrm>
          <a:prstGeom prst="roundRect">
            <a:avLst>
              <a:gd name="adj" fmla="val 36279"/>
            </a:avLst>
          </a:prstGeom>
          <a:solidFill>
            <a:srgbClr val="101014"/>
          </a:solidFill>
          <a:ln/>
        </p:spPr>
      </p:sp>
      <p:sp>
        <p:nvSpPr>
          <p:cNvPr id="12" name="Shape 8"/>
          <p:cNvSpPr/>
          <p:nvPr/>
        </p:nvSpPr>
        <p:spPr>
          <a:xfrm>
            <a:off x="4350901" y="3075265"/>
            <a:ext cx="442198" cy="442198"/>
          </a:xfrm>
          <a:prstGeom prst="roundRect">
            <a:avLst>
              <a:gd name="adj" fmla="val 206785"/>
            </a:avLst>
          </a:prstGeom>
          <a:solidFill>
            <a:srgbClr val="101014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83537" y="3207901"/>
            <a:ext cx="176808" cy="1768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6429" y="366486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Контейнеризация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956429" y="3983593"/>
            <a:ext cx="72311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Docker для изоляции сервисов, GitLab Container Registry для хранения образов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793790" y="4750475"/>
            <a:ext cx="7556421" cy="1085612"/>
          </a:xfrm>
          <a:prstGeom prst="roundRect">
            <a:avLst>
              <a:gd name="adj" fmla="val 6738"/>
            </a:avLst>
          </a:prstGeom>
          <a:solidFill>
            <a:srgbClr val="F3F3F7"/>
          </a:solidFill>
          <a:ln/>
        </p:spPr>
      </p:sp>
      <p:sp>
        <p:nvSpPr>
          <p:cNvPr id="17" name="Shape 12"/>
          <p:cNvSpPr/>
          <p:nvPr/>
        </p:nvSpPr>
        <p:spPr>
          <a:xfrm>
            <a:off x="793790" y="4735235"/>
            <a:ext cx="7556421" cy="60960"/>
          </a:xfrm>
          <a:prstGeom prst="roundRect">
            <a:avLst>
              <a:gd name="adj" fmla="val 36279"/>
            </a:avLst>
          </a:prstGeom>
          <a:solidFill>
            <a:srgbClr val="101014"/>
          </a:solidFill>
          <a:ln/>
        </p:spPr>
      </p:sp>
      <p:sp>
        <p:nvSpPr>
          <p:cNvPr id="18" name="Shape 13"/>
          <p:cNvSpPr/>
          <p:nvPr/>
        </p:nvSpPr>
        <p:spPr>
          <a:xfrm>
            <a:off x="4350901" y="4529376"/>
            <a:ext cx="442198" cy="442198"/>
          </a:xfrm>
          <a:prstGeom prst="roundRect">
            <a:avLst>
              <a:gd name="adj" fmla="val 206785"/>
            </a:avLst>
          </a:prstGeom>
          <a:solidFill>
            <a:srgbClr val="101014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83537" y="4662011"/>
            <a:ext cx="176808" cy="1768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6429" y="511897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Данные и обмен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956429" y="5437703"/>
            <a:ext cx="72311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SQLite для хранения метаданных, MQTT для публикации событий в реальном времени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793790" y="6204585"/>
            <a:ext cx="7556421" cy="1085612"/>
          </a:xfrm>
          <a:prstGeom prst="roundRect">
            <a:avLst>
              <a:gd name="adj" fmla="val 6738"/>
            </a:avLst>
          </a:prstGeom>
          <a:solidFill>
            <a:srgbClr val="F3F3F7"/>
          </a:solidFill>
          <a:ln/>
        </p:spPr>
      </p:sp>
      <p:sp>
        <p:nvSpPr>
          <p:cNvPr id="23" name="Shape 17"/>
          <p:cNvSpPr/>
          <p:nvPr/>
        </p:nvSpPr>
        <p:spPr>
          <a:xfrm>
            <a:off x="793790" y="6189345"/>
            <a:ext cx="7556421" cy="60960"/>
          </a:xfrm>
          <a:prstGeom prst="roundRect">
            <a:avLst>
              <a:gd name="adj" fmla="val 36279"/>
            </a:avLst>
          </a:prstGeom>
          <a:solidFill>
            <a:srgbClr val="101014"/>
          </a:solidFill>
          <a:ln/>
        </p:spPr>
      </p:sp>
      <p:sp>
        <p:nvSpPr>
          <p:cNvPr id="24" name="Shape 18"/>
          <p:cNvSpPr/>
          <p:nvPr/>
        </p:nvSpPr>
        <p:spPr>
          <a:xfrm>
            <a:off x="4350901" y="5983486"/>
            <a:ext cx="442198" cy="442198"/>
          </a:xfrm>
          <a:prstGeom prst="roundRect">
            <a:avLst>
              <a:gd name="adj" fmla="val 206785"/>
            </a:avLst>
          </a:prstGeom>
          <a:solidFill>
            <a:srgbClr val="101014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83537" y="6116122"/>
            <a:ext cx="176808" cy="1768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6429" y="657308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Разработка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956429" y="6891814"/>
            <a:ext cx="72311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Python 3.10, GitLab для контроля версий, CI/CD пайплайны, автоматические бенчмарки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925" y="585430"/>
            <a:ext cx="6522601" cy="58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Бизнес-модель и экономика</a:t>
            </a:r>
            <a:endParaRPr lang="en-US" sz="3650" dirty="0">
              <a:latin typeface="Bahnschrift Ligh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0925" y="1642586"/>
            <a:ext cx="4232910" cy="620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3000₽</a:t>
            </a:r>
            <a:endParaRPr lang="en-US" sz="4850" dirty="0">
              <a:latin typeface="Bahnschrift Ligh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72590" y="2497574"/>
            <a:ext cx="2349460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Средний чек</a:t>
            </a:r>
            <a:endParaRPr lang="en-US" sz="1800" dirty="0">
              <a:latin typeface="Bahnschrift Ligh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0925" y="2903934"/>
            <a:ext cx="4232910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Стоимость обработки одной камеры в месяц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98745" y="1642586"/>
            <a:ext cx="4232910" cy="620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300₽</a:t>
            </a:r>
            <a:endParaRPr lang="en-US" sz="4850" dirty="0">
              <a:latin typeface="Bahnschrift Ligh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40410" y="2497574"/>
            <a:ext cx="2349460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Себестоимость</a:t>
            </a:r>
            <a:endParaRPr lang="en-US" sz="1800" dirty="0">
              <a:latin typeface="Bahnschrift Ligh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98745" y="2903934"/>
            <a:ext cx="4232910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Затраты на обработку одной камеры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66565" y="1642586"/>
            <a:ext cx="4232910" cy="620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48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2700₽</a:t>
            </a:r>
            <a:endParaRPr lang="en-US" sz="4850" dirty="0">
              <a:latin typeface="Bahnschrift Ligh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608231" y="2497574"/>
            <a:ext cx="2349460" cy="293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Маржа</a:t>
            </a:r>
            <a:endParaRPr lang="en-US" sz="1800" dirty="0">
              <a:latin typeface="Bahnschrift Light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66565" y="2903934"/>
            <a:ext cx="4232910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Маржинальный доход с камеры в месяц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03175" y="4188295"/>
            <a:ext cx="3823930" cy="469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29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Подписочная модель</a:t>
            </a:r>
            <a:endParaRPr lang="en-US" sz="2950" dirty="0">
              <a:latin typeface="Bahnschrift Light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56325" y="4827185"/>
            <a:ext cx="7717750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База (1100₽): детекция и трекинг объектов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56325" y="5297005"/>
            <a:ext cx="7717750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Очереди (500₽): время ожидания и заполняемость зон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56325" y="5766826"/>
            <a:ext cx="7717750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Контроль (900₽): проверка касок, жилетов, формы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56325" y="6236646"/>
            <a:ext cx="7717750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Периметр (1200₽): запретные зоны и инциденты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56325" y="6706467"/>
            <a:ext cx="7717750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Лица (1750₽): идентификация и верификация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7FF1EE2-156A-253B-1325-40BAD9CFF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422" y="7559167"/>
            <a:ext cx="1797978" cy="670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0057"/>
            <a:ext cx="93579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Финансовые показатели проекта</a:t>
            </a:r>
            <a:endParaRPr lang="en-US" sz="4450" dirty="0">
              <a:latin typeface="Bahnschrift Ligh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4695944"/>
            <a:ext cx="13042821" cy="30480"/>
          </a:xfrm>
          <a:prstGeom prst="roundRect">
            <a:avLst>
              <a:gd name="adj" fmla="val 111628"/>
            </a:avLst>
          </a:prstGeom>
          <a:solidFill>
            <a:srgbClr val="C6C6D2"/>
          </a:solidFill>
          <a:ln/>
        </p:spPr>
      </p:sp>
      <p:sp>
        <p:nvSpPr>
          <p:cNvPr id="4" name="Shape 2"/>
          <p:cNvSpPr/>
          <p:nvPr/>
        </p:nvSpPr>
        <p:spPr>
          <a:xfrm>
            <a:off x="3301960" y="4015502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C6C6D2"/>
          </a:solidFill>
          <a:ln/>
        </p:spPr>
      </p:sp>
      <p:sp>
        <p:nvSpPr>
          <p:cNvPr id="5" name="Shape 3"/>
          <p:cNvSpPr/>
          <p:nvPr/>
        </p:nvSpPr>
        <p:spPr>
          <a:xfrm>
            <a:off x="3062049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6" name="Text 4"/>
          <p:cNvSpPr/>
          <p:nvPr/>
        </p:nvSpPr>
        <p:spPr>
          <a:xfrm>
            <a:off x="3147120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2650" dirty="0">
              <a:latin typeface="Bahnschrift Light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99642" y="25724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Месяц 1-3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0604" y="3062883"/>
            <a:ext cx="459331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Разработка MVP, аренда офиса, закупка оборудования. Инвестиции: 4,25 млн ₽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67293" y="4695944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C6C6D2"/>
          </a:solidFill>
          <a:ln/>
        </p:spPr>
      </p:sp>
      <p:sp>
        <p:nvSpPr>
          <p:cNvPr id="10" name="Shape 8"/>
          <p:cNvSpPr/>
          <p:nvPr/>
        </p:nvSpPr>
        <p:spPr>
          <a:xfrm>
            <a:off x="5727382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11" name="Text 9"/>
          <p:cNvSpPr/>
          <p:nvPr/>
        </p:nvSpPr>
        <p:spPr>
          <a:xfrm>
            <a:off x="5812453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2650" dirty="0">
              <a:latin typeface="Bahnschrift Light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64856" y="5603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Месяц 4-13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85818" y="6093619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Рост базы камер +50/мес. Накопленные затраты достигают пика 14,17 млн ₽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32508" y="4015502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C6C6D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2597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16" name="Text 14"/>
          <p:cNvSpPr/>
          <p:nvPr/>
        </p:nvSpPr>
        <p:spPr>
          <a:xfrm>
            <a:off x="8477667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2650" dirty="0">
              <a:latin typeface="Bahnschrift Light" panose="020B05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230070" y="25724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Месяц 14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51032" y="3062883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Точка безубыточности при 550 активных камерах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1297841" y="4695944"/>
            <a:ext cx="30480" cy="680442"/>
          </a:xfrm>
          <a:prstGeom prst="roundRect">
            <a:avLst>
              <a:gd name="adj" fmla="val 111628"/>
            </a:avLst>
          </a:prstGeom>
          <a:solidFill>
            <a:srgbClr val="C6C6D2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57930" y="444079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21" name="Text 19"/>
          <p:cNvSpPr/>
          <p:nvPr/>
        </p:nvSpPr>
        <p:spPr>
          <a:xfrm>
            <a:off x="11143000" y="44832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2650" dirty="0">
              <a:latin typeface="Bahnschrift Light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95403" y="5603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Месяц 28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016365" y="6093619"/>
            <a:ext cx="45934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Полная окупаемость проекта при 1250 камерах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8332D0A-7CC6-6D01-A827-5E1410F9A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422" y="7559167"/>
            <a:ext cx="1797978" cy="670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0629"/>
            <a:ext cx="430637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Команда и организация</a:t>
            </a:r>
            <a:endParaRPr lang="en-US" sz="2900" dirty="0">
              <a:latin typeface="Bahnschrift Ligh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976199"/>
            <a:ext cx="4249341" cy="1674614"/>
          </a:xfrm>
          <a:prstGeom prst="roundRect">
            <a:avLst>
              <a:gd name="adj" fmla="val 1321"/>
            </a:avLst>
          </a:prstGeom>
          <a:solidFill>
            <a:srgbClr val="E0E0EC"/>
          </a:solidFill>
          <a:ln/>
        </p:spPr>
      </p:sp>
      <p:sp>
        <p:nvSpPr>
          <p:cNvPr id="4" name="Shape 2"/>
          <p:cNvSpPr/>
          <p:nvPr/>
        </p:nvSpPr>
        <p:spPr>
          <a:xfrm>
            <a:off x="941189" y="2123599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10101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2752" y="2245162"/>
            <a:ext cx="198953" cy="1989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1189" y="271319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Руководство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41189" y="3031927"/>
            <a:ext cx="39545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Руководитель проекта, менеджер, бухгалтер, юрист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190530" y="1976199"/>
            <a:ext cx="4249341" cy="1674614"/>
          </a:xfrm>
          <a:prstGeom prst="roundRect">
            <a:avLst>
              <a:gd name="adj" fmla="val 1321"/>
            </a:avLst>
          </a:prstGeom>
          <a:solidFill>
            <a:srgbClr val="E0E0EC"/>
          </a:solidFill>
          <a:ln/>
        </p:spPr>
      </p:sp>
      <p:sp>
        <p:nvSpPr>
          <p:cNvPr id="9" name="Shape 6"/>
          <p:cNvSpPr/>
          <p:nvPr/>
        </p:nvSpPr>
        <p:spPr>
          <a:xfrm>
            <a:off x="5337929" y="2123599"/>
            <a:ext cx="442198" cy="442198"/>
          </a:xfrm>
          <a:prstGeom prst="roundRect">
            <a:avLst>
              <a:gd name="adj" fmla="val 50000"/>
            </a:avLst>
          </a:prstGeom>
          <a:solidFill>
            <a:srgbClr val="101014"/>
          </a:solidFill>
          <a:ln/>
        </p:spPr>
      </p:sp>
      <p:sp>
        <p:nvSpPr>
          <p:cNvPr id="11" name="Text 7"/>
          <p:cNvSpPr/>
          <p:nvPr/>
        </p:nvSpPr>
        <p:spPr>
          <a:xfrm>
            <a:off x="5337929" y="271319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Разработка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337929" y="3031927"/>
            <a:ext cx="395454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CV/ML инженер, Python разработчик, DevOps инженер, QA тестировщик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9587270" y="1976199"/>
            <a:ext cx="4249341" cy="1674614"/>
          </a:xfrm>
          <a:prstGeom prst="roundRect">
            <a:avLst>
              <a:gd name="adj" fmla="val 1321"/>
            </a:avLst>
          </a:prstGeom>
          <a:solidFill>
            <a:srgbClr val="E0E0EC"/>
          </a:solidFill>
          <a:ln/>
        </p:spPr>
      </p:sp>
      <p:sp>
        <p:nvSpPr>
          <p:cNvPr id="14" name="Shape 10"/>
          <p:cNvSpPr/>
          <p:nvPr/>
        </p:nvSpPr>
        <p:spPr>
          <a:xfrm>
            <a:off x="9734669" y="2123599"/>
            <a:ext cx="442198" cy="442198"/>
          </a:xfrm>
          <a:prstGeom prst="roundRect">
            <a:avLst>
              <a:gd name="adj" fmla="val 20676452"/>
            </a:avLst>
          </a:prstGeom>
          <a:solidFill>
            <a:srgbClr val="10101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56232" y="2245162"/>
            <a:ext cx="198953" cy="19895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734669" y="2713196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Внедрение</a:t>
            </a:r>
            <a:endParaRPr lang="en-US" sz="1450" dirty="0">
              <a:latin typeface="Bahnschrift Light" panose="020B0502040204020203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734669" y="3031927"/>
            <a:ext cx="395454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Инженер по внедрению, оператор поддержки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93790" y="3871913"/>
            <a:ext cx="3824168" cy="368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Офис в Санкт-Петербурге</a:t>
            </a:r>
            <a:endParaRPr lang="en-US" sz="2300" dirty="0">
              <a:latin typeface="Bahnschrift Light" panose="020B0502040204020203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93790" y="4594265"/>
            <a:ext cx="63416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Площадь 60-80 м² на 8-10 рабочих мест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793790" y="4962644"/>
            <a:ext cx="63416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Open-space, переговорная, демо-зона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793790" y="5331023"/>
            <a:ext cx="63416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Стоимость аренды: 125 000 ₽/мес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793790" y="5699403"/>
            <a:ext cx="634162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Фонд оплаты труда: 1,32 млн ₽/мес</a:t>
            </a:r>
            <a:endParaRPr lang="en-US" sz="1150" dirty="0">
              <a:latin typeface="Bahnschrift Light" panose="020B0502040204020203" pitchFamily="34" charset="0"/>
            </a:endParaRPr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4447" y="4056222"/>
            <a:ext cx="5165646" cy="2776497"/>
          </a:xfrm>
          <a:prstGeom prst="rect">
            <a:avLst/>
          </a:prstGeom>
        </p:spPr>
      </p:pic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AAB34391-8354-CCB0-74A3-E394213F4D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44251" y="2214563"/>
            <a:ext cx="229553" cy="229552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0DA2D59-BD38-4A71-A693-C03780BC67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32422" y="7559167"/>
            <a:ext cx="1797978" cy="670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80C28C1-9A23-0C9B-E185-1C664CF01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"/>
            <a:ext cx="5486400" cy="82296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04173"/>
            <a:ext cx="624947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Стратегия выхода на рынок</a:t>
            </a:r>
            <a:endParaRPr lang="en-US" sz="3550" dirty="0">
              <a:latin typeface="Bahnschrift Light" panose="020B0502040204020203" pitchFamily="3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1843326"/>
            <a:ext cx="907256" cy="13357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82497" y="202477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Прямые продажи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1882497" y="2417088"/>
            <a:ext cx="6467713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Деловые встречи с предприятиями Санкт-Петербурга, демонстрация на реальных потоках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3179088"/>
            <a:ext cx="907256" cy="10887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82497" y="336053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Онлайн-канал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1882497" y="3752850"/>
            <a:ext cx="64677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Сайт с кейсами, видеороликами и формой для пробного запуска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4267795"/>
            <a:ext cx="907256" cy="10887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82497" y="444924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Партнёрства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882497" y="4841558"/>
            <a:ext cx="64677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Сотрудничество с установщиками камер и ИТ-интеграторами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93790" y="5628680"/>
            <a:ext cx="7328297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Пробный запуск как инструмент продаж</a:t>
            </a:r>
            <a:endParaRPr lang="en-US" sz="2850" dirty="0">
              <a:latin typeface="Bahnschrift Light" panose="020B0502040204020203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793790" y="6354485"/>
            <a:ext cx="7556421" cy="870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Стандартный пилот на 4-8 недель с 3-5 камерами. Измеримые цели, еженедельная отчётность, финальный отчёт с количественной оценкой эффекта. Конверсия пилотов в коммерческие контракты - ключевая метрика успеха.</a:t>
            </a:r>
            <a:endParaRPr lang="en-US" sz="1400" dirty="0">
              <a:latin typeface="Bahnschrift Light" panose="020B050204020402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6523"/>
            <a:ext cx="898659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01014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Ключевые преимущества Detect</a:t>
            </a:r>
            <a:endParaRPr lang="en-US" sz="4450" dirty="0">
              <a:latin typeface="Bahnschrift Light" panose="020B05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75546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4" name="Text 2"/>
          <p:cNvSpPr/>
          <p:nvPr/>
        </p:nvSpPr>
        <p:spPr>
          <a:xfrm>
            <a:off x="1530906" y="2833330"/>
            <a:ext cx="33404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Гибридная архитектура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530906" y="3323749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Вычисления локально или в облаке - выбор клиента в зависимости от требований к приватности и задержкам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56884" y="275546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7" name="Text 5"/>
          <p:cNvSpPr/>
          <p:nvPr/>
        </p:nvSpPr>
        <p:spPr>
          <a:xfrm>
            <a:off x="8194000" y="2833330"/>
            <a:ext cx="29876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Защита приватности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94000" y="3323749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Маски на приватные зоны, режим "только метаданные", ограниченные сроки хранения, разграничение доступа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10" name="Text 8"/>
          <p:cNvSpPr/>
          <p:nvPr/>
        </p:nvSpPr>
        <p:spPr>
          <a:xfrm>
            <a:off x="1530906" y="4943951"/>
            <a:ext cx="38328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Быстрое масштабирование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30906" y="5434370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Модульная структура, типовые конфигурации, автоматизированное развёртывание через Docker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56884" y="486608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0E0EC"/>
          </a:solidFill>
          <a:ln/>
        </p:spPr>
      </p:sp>
      <p:sp>
        <p:nvSpPr>
          <p:cNvPr id="13" name="Text 11"/>
          <p:cNvSpPr/>
          <p:nvPr/>
        </p:nvSpPr>
        <p:spPr>
          <a:xfrm>
            <a:off x="8194000" y="4943951"/>
            <a:ext cx="32656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9393C"/>
                </a:solidFill>
                <a:latin typeface="Bahnschrift Light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Прозрачная экономика</a:t>
            </a:r>
            <a:endParaRPr lang="en-US" sz="2200" dirty="0">
              <a:latin typeface="Bahnschrift Light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94000" y="5434370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Bahnschrift Light" panose="020B0502040204020203" pitchFamily="34" charset="0"/>
                <a:ea typeface="Open Sans" pitchFamily="34" charset="-122"/>
                <a:cs typeface="Open Sans" pitchFamily="34" charset="-120"/>
              </a:rPr>
              <a:t>Понятная подписочная модель, калькулятор эффекта, измеримый ROI для клиента</a:t>
            </a:r>
            <a:endParaRPr lang="en-US" sz="1750" dirty="0">
              <a:latin typeface="Bahnschrift Light" panose="020B0502040204020203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FA24F11-88E3-EB93-8EB9-534541CF0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2422" y="7559167"/>
            <a:ext cx="1797978" cy="670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602</Words>
  <Application>Microsoft Office PowerPoint</Application>
  <PresentationFormat>Произвольный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Bahnschrift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Рафаэль Баймухамедов</dc:creator>
  <cp:lastModifiedBy>Рафаэль Баймухамедов</cp:lastModifiedBy>
  <cp:revision>2</cp:revision>
  <dcterms:created xsi:type="dcterms:W3CDTF">2025-11-23T11:12:33Z</dcterms:created>
  <dcterms:modified xsi:type="dcterms:W3CDTF">2025-11-23T11:29:07Z</dcterms:modified>
</cp:coreProperties>
</file>